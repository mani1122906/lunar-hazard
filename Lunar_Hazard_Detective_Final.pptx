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015" y="4837834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49653" y="2316889"/>
            <a:ext cx="27432" cy="2743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2859" y="1910426"/>
            <a:ext cx="27432" cy="27432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3524" y="1999593"/>
            <a:ext cx="27432" cy="2743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9970" y="498150"/>
            <a:ext cx="27432" cy="27432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89635" y="3641157"/>
            <a:ext cx="27432" cy="27432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8894" y="5138877"/>
            <a:ext cx="27432" cy="27432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34174" y="2979845"/>
            <a:ext cx="27432" cy="27432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1350" y="663593"/>
            <a:ext cx="27432" cy="2743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72941" y="4435263"/>
            <a:ext cx="27432" cy="27432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9348" y="3086370"/>
            <a:ext cx="27432" cy="27432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1311" y="2674727"/>
            <a:ext cx="27432" cy="27432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2581" y="1841687"/>
            <a:ext cx="27432" cy="2743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02842" y="3134832"/>
            <a:ext cx="27432" cy="27432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4462" y="2551090"/>
            <a:ext cx="27432" cy="27432"/>
          </a:xfrm>
          <a:prstGeom prst="ellipse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2656" y="1174081"/>
            <a:ext cx="27432" cy="27432"/>
          </a:xfrm>
          <a:prstGeom prst="ellipse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838" y="4802106"/>
            <a:ext cx="27432" cy="27432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99113" y="497533"/>
            <a:ext cx="27432" cy="27432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5734" y="4132435"/>
            <a:ext cx="27432" cy="27432"/>
          </a:xfrm>
          <a:prstGeom prst="ellipse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7242" y="1486680"/>
            <a:ext cx="27432" cy="27432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34819" y="1597898"/>
            <a:ext cx="27432" cy="27432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8969" y="2764326"/>
            <a:ext cx="27432" cy="27432"/>
          </a:xfrm>
          <a:prstGeom prst="ellipse">
            <a:avLst/>
          </a:prstGeom>
          <a:solidFill>
            <a:srgbClr val="FFFFFF">
              <a:alpha val="7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8516" y="702231"/>
            <a:ext cx="27432" cy="2743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1725" y="4774315"/>
            <a:ext cx="27432" cy="2743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93" y="3579683"/>
            <a:ext cx="27432" cy="27432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0802" y="1112902"/>
            <a:ext cx="27432" cy="27432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14516" y="3747997"/>
            <a:ext cx="27432" cy="27432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6247" y="363047"/>
            <a:ext cx="27432" cy="27432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14113" y="4204644"/>
            <a:ext cx="27432" cy="27432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81007" y="529670"/>
            <a:ext cx="27432" cy="27432"/>
          </a:xfrm>
          <a:prstGeom prst="ellipse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864"/>
            <a:ext cx="73152" cy="5029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164592"/>
            <a:ext cx="5029200" cy="38404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164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HAZARD DETECTIVE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97280" y="777240"/>
            <a:ext cx="1280160" cy="1280160"/>
          </a:xfrm>
          <a:prstGeom prst="ellipse">
            <a:avLst/>
          </a:prstGeom>
          <a:solidFill>
            <a:srgbClr val="1E40A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850392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🛰️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2651760" y="8046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LUNAR HAZARD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2651760" y="14904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DETECTIVE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2651760" y="2304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AI for Autonomous Landing Safety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51760" y="283464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29443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Mani Mani Kumar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51760" y="3291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YOLOv11 · U-Net · CLAHE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51760" y="3730752"/>
            <a:ext cx="3474720" cy="420624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37307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Landing through Computer Vision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0" y="256032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6060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🌑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Billion-Dollar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Shadows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poles have persistent shadows hiding terrain features. Boulders and craters become invisible in standard imagery.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🪨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60cm = Mission Failure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undetected boulder just 60cm in diameter can tip or destroy a lander — costing billions and years of 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Intel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lack autonomous, real-time GO/NO-GO decision capability for extreme polar terrain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Mission &amp;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GOAL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satellite pixels into a clear Safe / Unsafe landing verdict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50292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11680"/>
            <a:ext cx="64008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057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USED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for boulder detection  ·  U-Net for terrain segmentation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50292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64008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063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3192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adaptive shadow correction enabling 100% terrain visibility in dark polar regions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0292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23360"/>
            <a:ext cx="64008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LROC (Lunar Reconnaissance Orbiter Camera) North Pole Mosaic imagery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1005840"/>
            <a:ext cx="1554480" cy="1554480"/>
          </a:xfrm>
          <a:prstGeom prst="ellipse">
            <a:avLst/>
          </a:prstGeom>
          <a:solidFill>
            <a:srgbClr val="1E40AF">
              <a:alpha val="7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692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1005840"/>
            <a:ext cx="1554480" cy="1554480"/>
          </a:xfrm>
          <a:prstGeom prst="ellipse">
            <a:avLst/>
          </a:prstGeom>
          <a:solidFill>
            <a:srgbClr val="1E40AF">
              <a:alpha val="7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40664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Pipeline Phases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880360"/>
            <a:ext cx="1554480" cy="1554480"/>
          </a:xfrm>
          <a:prstGeom prst="ellipse">
            <a:avLst/>
          </a:prstGeom>
          <a:solidFill>
            <a:srgbClr val="1E40AF">
              <a:alpha val="7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13639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2880360"/>
            <a:ext cx="1554480" cy="1554480"/>
          </a:xfrm>
          <a:prstGeom prst="ellipse">
            <a:avLst/>
          </a:prstGeom>
          <a:solidFill>
            <a:srgbClr val="1E40AF">
              <a:alpha val="7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313639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0664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Decision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Innovation: Shadow Enhancement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657600" cy="2743200"/>
          </a:xfrm>
          <a:prstGeom prst="rect">
            <a:avLst/>
          </a:prstGeom>
          <a:solidFill>
            <a:srgbClr val="05081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🌑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Hidden boulders · Invisible craters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Shadow-masked terrain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960120"/>
            <a:ext cx="3657600" cy="2743200"/>
          </a:xfrm>
          <a:prstGeom prst="rect">
            <a:avLst/>
          </a:prstGeom>
          <a:solidFill>
            <a:srgbClr val="0A162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</a:rPr>
              <a:t>AFTER (CLAHE)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🌕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206240" y="2880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terrain visibility · 100%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Boulders &amp; craters revealed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286000"/>
            <a:ext cx="457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587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— Contrast Limited Adaptive Histogram Equalization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788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image into small tiles and equalizes each region independently — preventing noise amplification while dramatically improving local contrast in shadowed areas. Applied before AI models for optimal feature extraction.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Pipeline</a:t>
            </a:r>
            <a:endParaRPr lang="en-US" sz="3400" dirty="0"/>
          </a:p>
        </p:txBody>
      </p:sp>
      <p:pic>
        <p:nvPicPr>
          <p:cNvPr id="5" name="Image 0" descr="/home/claude/flow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914400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069848"/>
            <a:ext cx="438912" cy="43891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069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12080" y="9692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Enhancement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1069848"/>
            <a:ext cx="1005840" cy="438912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0698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CLAHE img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176479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92024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1819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Boulder Detection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12080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18120" y="1920240"/>
            <a:ext cx="1005840" cy="438912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19202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0" y="2615184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770632"/>
            <a:ext cx="438912" cy="43891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12080" y="2670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Risk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120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18120" y="2770632"/>
            <a:ext cx="1005840" cy="438912"/>
          </a:xfrm>
          <a:prstGeom prst="rect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7706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Risk Maps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3465576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6210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21208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 Node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1208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Logic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18120" y="3621024"/>
            <a:ext cx="1005840" cy="43891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18120" y="362102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Fused Data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0" y="4315968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63440" y="4471416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4471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212080" y="4370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Analysis Engine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212080" y="4718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AI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818120" y="4471416"/>
            <a:ext cx="1005840" cy="43891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8120" y="44714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GO/NO-GO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Dual-Model Fusion Brain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Boulder Detection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0789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🪨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&amp; bounding boxes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boulder size (diameter in meters)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confidence score per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NO-GO if boulder count &gt; 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402336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960120"/>
            <a:ext cx="402336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078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U-Net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1581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Terrain Segmentation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10789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semantic segmentation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unstable terrain and slope zones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9626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risk percentage maps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NO-GO if landslide risk &gt; 10%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8595360" cy="749808"/>
          </a:xfrm>
          <a:prstGeom prst="rect">
            <a:avLst/>
          </a:prstGeom>
          <a:solidFill>
            <a:srgbClr val="1E40AF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15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⚡  FUSION LOGIC: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431596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Boulder Count &gt; 5  OR  Landslide Risk &gt; 10%  →  NO-GO  |  Both within limits  →  GO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Control Dashboard</a:t>
            </a:r>
            <a:endParaRPr lang="en-US" sz="3400" dirty="0"/>
          </a:p>
        </p:txBody>
      </p:sp>
      <p:pic>
        <p:nvPicPr>
          <p:cNvPr id="5" name="Image 0" descr="/home/claude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86868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Stack: Python · Streamlit · PyTorch  |  Modes: Mock &amp; Live  |  Features: Real-time sliders · Multi-model monitoring · Export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Case Study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🔴  SITE STATUS: UNSAFE — NO-GO VERDICT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Boulders Detected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73736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73736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468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12.2m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1460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Max Boulder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73736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73736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2468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Landslide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73736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73736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12280" y="24688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79.13%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1228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System Confidence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70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</a:rPr>
              <a:t>WHY NO-GO: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53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boulders &gt; threshold of 5  AND  landslide risk 15.5% &gt; threshold of 10% — both conditions triggered the safety protocol.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Our Solution Wins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Cross-Planet Scalable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807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generalizes to any planetary body — Mars, asteroids, Europa. Swap the imagery source and retrain.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04688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AI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13807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models (YOLOv11 + U-Net) provide cross-validation — reducing false positives and missed hazards.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24128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GO/NO-GO 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7523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 with confidence scores. No ambiguity for mission controllers — actionable in real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04688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Innovation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04688" y="27523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adaptive shadow correction enables detection where no system has seen before — 100% terrain coverage.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4128" y="3776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UI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1239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with live sliders, camera input, and batch processing — deployment-ready software.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2062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04688" y="3776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04688" y="41239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5-phase pipeline executes in seconds — suitable for autonomous lander systems with tight time windows.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4647" y="2039848"/>
            <a:ext cx="27432" cy="27432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42287" y="2721470"/>
            <a:ext cx="27432" cy="27432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09546" y="2791741"/>
            <a:ext cx="27432" cy="27432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4115" y="3969670"/>
            <a:ext cx="27432" cy="27432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5075" y="4624379"/>
            <a:ext cx="27432" cy="27432"/>
          </a:xfrm>
          <a:prstGeom prst="ellipse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65678" y="2129824"/>
            <a:ext cx="27432" cy="27432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5807" y="2415573"/>
            <a:ext cx="27432" cy="27432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1559" y="1192041"/>
            <a:ext cx="27432" cy="2743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9135" y="3615740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170" y="2719224"/>
            <a:ext cx="27432" cy="27432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7795" y="2189153"/>
            <a:ext cx="27432" cy="27432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899" y="592465"/>
            <a:ext cx="27432" cy="27432"/>
          </a:xfrm>
          <a:prstGeom prst="ellipse">
            <a:avLst/>
          </a:prstGeom>
          <a:solidFill>
            <a:srgbClr val="FFFFFF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2405" y="2290808"/>
            <a:ext cx="27432" cy="27432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313" y="176049"/>
            <a:ext cx="27432" cy="27432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0075" y="2851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6533" y="3085917"/>
            <a:ext cx="27432" cy="27432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1590" y="3204793"/>
            <a:ext cx="27432" cy="27432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81762" y="4054958"/>
            <a:ext cx="27432" cy="27432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0045" y="4700366"/>
            <a:ext cx="27432" cy="27432"/>
          </a:xfrm>
          <a:prstGeom prst="ellipse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3015" y="3959600"/>
            <a:ext cx="27432" cy="27432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6715" y="1344151"/>
            <a:ext cx="27432" cy="2743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85667" y="281279"/>
            <a:ext cx="27432" cy="27432"/>
          </a:xfrm>
          <a:prstGeom prst="ellipse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4" y="1646828"/>
            <a:ext cx="27432" cy="27432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00987" y="2912294"/>
            <a:ext cx="27432" cy="27432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6434" y="419945"/>
            <a:ext cx="27432" cy="27432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57200"/>
            <a:ext cx="768096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57200"/>
            <a:ext cx="7680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943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Accomplished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14400" y="13258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We built a complete, autonomous lunar landing decision engine 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17190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from raw satellite pixels to a GO / NO-GO verdict.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5-Phase AI Pipeline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79.13%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Real Decision Output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3749040"/>
            <a:ext cx="76809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822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</a:rPr>
              <a:t>🚀  NEXT STEPS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2062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DTM integration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slope analysis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Mars terrain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lander hardware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Foundation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studied &amp; inspiration taken for our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64008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89888"/>
            <a:ext cx="457200" cy="4572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YOLOv9: Learning What You Want to Learn Using Programmable Gradient 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2024 — arXiv:2402.13616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7556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Foundation for our YOLOv11 boulder detection — real-time object detection with high precision in low-contrast environments.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64008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50008"/>
            <a:ext cx="457200" cy="457200"/>
          </a:xfrm>
          <a:prstGeom prst="ellipse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194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Convolutional Networks for Biomedical Image Segmentation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al., 2015 — arXiv:1505.04597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7157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inspiration for our landslide segmentation model — encoder-decoder architecture with skip connections for pixel-level classification.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8595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089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310128"/>
            <a:ext cx="457200" cy="45720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CLAHE: Contrast Limited Adaptive Histogram Equalization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Zuiderveld, 1994 — Graphics Gems IV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6758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preprocessing innovation — tile-based local contrast enhancement that reveals boulder features hidden in permanent lunar shadows.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6908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270248"/>
            <a:ext cx="457200" cy="45720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Detection and Avoidance for Planetary Landing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et al., NASA JPL — AIAA Space 2016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46360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Validated our GO/NO-GO threshold logic — boulder size limits and slope constraints aligned with NASA mission safety parameters.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137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Metrics &amp; Evaluation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— Boulder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81.4%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65376"/>
            <a:ext cx="2888590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78.2%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15184"/>
            <a:ext cx="2781605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072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79.13%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64992"/>
            <a:ext cx="2817266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822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~45ms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3031236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960120"/>
            <a:ext cx="41148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— Landslide Segmentation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84.7%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1865376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865376"/>
            <a:ext cx="3031236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76.3%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615184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15184"/>
            <a:ext cx="2710282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09560" y="3072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80.1%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3364992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3364992"/>
            <a:ext cx="2852928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09560" y="3822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&lt; 5%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4114800"/>
            <a:ext cx="356616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4114800"/>
            <a:ext cx="3387852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Overall System Confidence: 79.13%  |  Pipeline Runtime: &lt; 3 seconds  |  Test Dataset: LROC North Pole Mosaic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Lunar Hazard Detective</dc:title>
  <dc:subject>PptxGenJS Presentation</dc:subject>
  <dc:creator>PptxGenJS</dc:creator>
  <cp:lastModifiedBy>PptxGenJS</cp:lastModifiedBy>
  <cp:revision>1</cp:revision>
  <dcterms:created xsi:type="dcterms:W3CDTF">2026-04-02T16:56:13Z</dcterms:created>
  <dcterms:modified xsi:type="dcterms:W3CDTF">2026-04-02T16:56:13Z</dcterms:modified>
</cp:coreProperties>
</file>